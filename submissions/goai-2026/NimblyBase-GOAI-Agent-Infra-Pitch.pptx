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78f3e0e9e47aa" /><Relationship Type="http://schemas.openxmlformats.org/officeDocument/2006/relationships/extended-properties" Target="/docProps/app.xml" Id="Ra547db3ebdc3434c" /><Relationship Type="http://schemas.openxmlformats.org/officeDocument/2006/relationships/officeDocument" Target="/ppt/presentation.xml" Id="R4de83b39c699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06b8f7c3944eb"/>
  </p:sldMasterIdLst>
  <p:notesMasterIdLst>
    <p:notesMasterId xmlns:r="http://schemas.openxmlformats.org/officeDocument/2006/relationships" r:id="Rcbbe7f1b2fe34f25"/>
  </p:notesMasterIdLst>
  <p:sldIdLst>
    <p:sldId xmlns:r="http://schemas.openxmlformats.org/officeDocument/2006/relationships" id="256" r:id="R0ecdcb53649c4b8b"/>
    <p:sldId xmlns:r="http://schemas.openxmlformats.org/officeDocument/2006/relationships" id="257" r:id="R1b6618db5c64461b"/>
    <p:sldId xmlns:r="http://schemas.openxmlformats.org/officeDocument/2006/relationships" id="258" r:id="Rce8900f316e0402d"/>
    <p:sldId xmlns:r="http://schemas.openxmlformats.org/officeDocument/2006/relationships" id="259" r:id="R850d122da56841bf"/>
    <p:sldId xmlns:r="http://schemas.openxmlformats.org/officeDocument/2006/relationships" id="260" r:id="Rf83c0b9e62764926"/>
    <p:sldId xmlns:r="http://schemas.openxmlformats.org/officeDocument/2006/relationships" id="261" r:id="Rf8aaa745fc2d49b4"/>
    <p:sldId xmlns:r="http://schemas.openxmlformats.org/officeDocument/2006/relationships" id="262" r:id="R91323e5b2d1244b3"/>
    <p:sldId xmlns:r="http://schemas.openxmlformats.org/officeDocument/2006/relationships" id="263" r:id="R6dab4af5bd3242b5"/>
    <p:sldId xmlns:r="http://schemas.openxmlformats.org/officeDocument/2006/relationships" id="264" r:id="Rd9b826427ca64e96"/>
    <p:sldId xmlns:r="http://schemas.openxmlformats.org/officeDocument/2006/relationships" id="265" r:id="R45b07a6ea55b4a31"/>
    <p:sldId xmlns:r="http://schemas.openxmlformats.org/officeDocument/2006/relationships" id="266" r:id="Ra6272c9f3e5149ff"/>
    <p:sldId xmlns:r="http://schemas.openxmlformats.org/officeDocument/2006/relationships" id="267" r:id="R9a8ffe787f7b48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bfdf082ea4aab" /><Relationship Type="http://schemas.openxmlformats.org/officeDocument/2006/relationships/slideMaster" Target="/ppt/slideMasters/slideMaster1.xml" Id="R71c06b8f7c3944eb" /><Relationship Type="http://schemas.openxmlformats.org/officeDocument/2006/relationships/notesMaster" Target="/ppt/notesMasters/notesMaster1.xml" Id="Rcbbe7f1b2fe34f25" /><Relationship Type="http://schemas.openxmlformats.org/officeDocument/2006/relationships/presProps" Target="/ppt/presProps.xml" Id="Rfda435af30964c3b" /><Relationship Type="http://schemas.openxmlformats.org/officeDocument/2006/relationships/tableStyles" Target="/ppt/tableStyles.xml" Id="R3fffdc7ea8e74e33" /><Relationship Type="http://schemas.openxmlformats.org/officeDocument/2006/relationships/slide" Target="/ppt/slides/slide1.xml" Id="R0ecdcb53649c4b8b" /><Relationship Type="http://schemas.openxmlformats.org/officeDocument/2006/relationships/slide" Target="/ppt/slides/slide2.xml" Id="R1b6618db5c64461b" /><Relationship Type="http://schemas.openxmlformats.org/officeDocument/2006/relationships/slide" Target="/ppt/slides/slide3.xml" Id="Rce8900f316e0402d" /><Relationship Type="http://schemas.openxmlformats.org/officeDocument/2006/relationships/slide" Target="/ppt/slides/slide4.xml" Id="R850d122da56841bf" /><Relationship Type="http://schemas.openxmlformats.org/officeDocument/2006/relationships/slide" Target="/ppt/slides/slide5.xml" Id="Rf83c0b9e62764926" /><Relationship Type="http://schemas.openxmlformats.org/officeDocument/2006/relationships/slide" Target="/ppt/slides/slide6.xml" Id="Rf8aaa745fc2d49b4" /><Relationship Type="http://schemas.openxmlformats.org/officeDocument/2006/relationships/slide" Target="/ppt/slides/slide7.xml" Id="R91323e5b2d1244b3" /><Relationship Type="http://schemas.openxmlformats.org/officeDocument/2006/relationships/slide" Target="/ppt/slides/slide8.xml" Id="R6dab4af5bd3242b5" /><Relationship Type="http://schemas.openxmlformats.org/officeDocument/2006/relationships/slide" Target="/ppt/slides/slide9.xml" Id="Rd9b826427ca64e96" /><Relationship Type="http://schemas.openxmlformats.org/officeDocument/2006/relationships/slide" Target="/ppt/slides/slide10.xml" Id="R45b07a6ea55b4a31" /><Relationship Type="http://schemas.openxmlformats.org/officeDocument/2006/relationships/slide" Target="/ppt/slides/slide11.xml" Id="Ra6272c9f3e5149ff" /><Relationship Type="http://schemas.openxmlformats.org/officeDocument/2006/relationships/slide" Target="/ppt/slides/slide12.xml" Id="R9a8ffe787f7b48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f290e0ebf9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6ddebed884f00" /><Relationship Type="http://schemas.openxmlformats.org/officeDocument/2006/relationships/notesMaster" Target="/ppt/notesMasters/notesMaster1.xml" Id="R26c8e11d5aa949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c3296862d4a2f" /><Relationship Type="http://schemas.openxmlformats.org/officeDocument/2006/relationships/notesMaster" Target="/ppt/notesMasters/notesMaster1.xml" Id="R8b92a71228ae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f9b63bc1e44340" /><Relationship Type="http://schemas.openxmlformats.org/officeDocument/2006/relationships/notesMaster" Target="/ppt/notesMasters/notesMaster1.xml" Id="R519a7fd5dce7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593cb6708443a1" /><Relationship Type="http://schemas.openxmlformats.org/officeDocument/2006/relationships/notesMaster" Target="/ppt/notesMasters/notesMaster1.xml" Id="R51695c50daad48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cf29efd36a4e7a" /><Relationship Type="http://schemas.openxmlformats.org/officeDocument/2006/relationships/notesMaster" Target="/ppt/notesMasters/notesMaster1.xml" Id="R74dc6795a2f746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093bd8ac04ba3" /><Relationship Type="http://schemas.openxmlformats.org/officeDocument/2006/relationships/notesMaster" Target="/ppt/notesMasters/notesMaster1.xml" Id="R62c10d80240b4b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72cc7e7f7340ed" /><Relationship Type="http://schemas.openxmlformats.org/officeDocument/2006/relationships/notesMaster" Target="/ppt/notesMasters/notesMaster1.xml" Id="R9f4dbe4b78024c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e7352be5cd4858" /><Relationship Type="http://schemas.openxmlformats.org/officeDocument/2006/relationships/notesMaster" Target="/ppt/notesMasters/notesMaster1.xml" Id="Rb51a72c5ea9746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fa26a715af4df0" /><Relationship Type="http://schemas.openxmlformats.org/officeDocument/2006/relationships/notesMaster" Target="/ppt/notesMasters/notesMaster1.xml" Id="R4be9d948c7eb47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848d806a3d41ea" /><Relationship Type="http://schemas.openxmlformats.org/officeDocument/2006/relationships/notesMaster" Target="/ppt/notesMasters/notesMaster1.xml" Id="Ra4111717c9e54b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c7c4cf06634a59" /><Relationship Type="http://schemas.openxmlformats.org/officeDocument/2006/relationships/notesMaster" Target="/ppt/notesMasters/notesMaster1.xml" Id="R775747fff0f94c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e110b9866748c1" /><Relationship Type="http://schemas.openxmlformats.org/officeDocument/2006/relationships/notesMaster" Target="/ppt/notesMasters/notesMaster1.xml" Id="Ra37cd73e7343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The deck positions NimblyBase as Agent Infra for moving AI-built apps from demo to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Agent Infra requires multi-agent collaboration, Skills, MCP/tool integration, observability, and execution evidence. This slide frames NimblyBase as aligned with that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based on NimblyBase product planning and the GOAI focus on runnable, reproducible, verifiable projects.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slide. NimblyBase is a modular control plane exposed through MCP, CLI, and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Agent Infra asks for at least three agents with clear roles in a closed-loop system. This slide defines the proposed NimblyBase demo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slide. Provider choices come from the NimblyBase plan: Cloudflare-first, Neon Postgres, Entri domains, Fly/Railway compute.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Agent Infra highlights Skills and MCP/tool integration. NimblyBase will expose reusable infrastructure capabilities through MCP and CLI.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surface from the NimblyBase SRS. The key product decision is modular usage: customers can consume only the services they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Agent Infra emphasizes execution evidence, observability, audit, approval, rollback, and verification. NimblyBase adds cost intelligence as a core operating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preliminary does not require runnable code for Agent Infra, but semi-final expects executable package and runnable demo/video. This slide defines a feasible MVP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judging includes open-source contribution, reproducibility, and long-term value. This slide defines which parts of NimblyBase can be open-source and reusable.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It turns the plan into a GOAI-specific ask and connects preliminary, semi-final, and final deliverables.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GOAI homepage and track pages: https://www.goaihz.com/en</a:t>
            </a:r>
          </a:p>
          <a:p xmlns:a="http://schemas.openxmlformats.org/drawingml/2006/main">
            <a:r>
              <a:t>- GOAI Agent Infra track: https://www.goaihz.com/en/tracks?track=infra</a:t>
            </a:r>
          </a:p>
          <a:p xmlns:a="http://schemas.openxmlformats.org/drawingml/2006/main">
            <a:r>
              <a:t>- GOAI FAQ: https://www.goaihz.com/en/faq</a:t>
            </a:r>
          </a:p>
          <a:p xmlns:a="http://schemas.openxmlformats.org/drawingml/2006/main">
            <a:r>
              <a:t>- NimblyBase SRS planning file: /Users/vinothjv/Documents/Project-outside/NimblyBase/NimblyBase-SRS.md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a8021a3aa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b4db1f84149b4" /><Relationship Type="http://schemas.openxmlformats.org/officeDocument/2006/relationships/slideLayout" Target="/ppt/slideLayouts/slideLayout1.xml" Id="R5b6719ef35b24e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6719ef35b24e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c426916a4ce9" /><Relationship Type="http://schemas.openxmlformats.org/officeDocument/2006/relationships/notesSlide" Target="/ppt/notesSlides/notesSlide1.xml" Id="Rd53e80098ac14f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2d363999d446a" /><Relationship Type="http://schemas.openxmlformats.org/officeDocument/2006/relationships/notesSlide" Target="/ppt/notesSlides/notesSlide2.xml" Id="R95cbf553b05c45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9ea511c1f4463" /><Relationship Type="http://schemas.openxmlformats.org/officeDocument/2006/relationships/notesSlide" Target="/ppt/notesSlides/notesSlide3.xml" Id="R6912391c1941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966af5dc74881" /><Relationship Type="http://schemas.openxmlformats.org/officeDocument/2006/relationships/notesSlide" Target="/ppt/notesSlides/notesSlide4.xml" Id="R0f08f83f33fd41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83daa863f4ddf" /><Relationship Type="http://schemas.openxmlformats.org/officeDocument/2006/relationships/notesSlide" Target="/ppt/notesSlides/notesSlide5.xml" Id="R5c9045ec43cd4a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2f51714e14a5e" /><Relationship Type="http://schemas.openxmlformats.org/officeDocument/2006/relationships/notesSlide" Target="/ppt/notesSlides/notesSlide6.xml" Id="R65770df5212c45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acf911f6b432c" /><Relationship Type="http://schemas.openxmlformats.org/officeDocument/2006/relationships/notesSlide" Target="/ppt/notesSlides/notesSlide7.xml" Id="Rb748f5cb1d16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b261e8c504eff" /><Relationship Type="http://schemas.openxmlformats.org/officeDocument/2006/relationships/notesSlide" Target="/ppt/notesSlides/notesSlide8.xml" Id="R83c5f0ed968f49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f9dca48c04a55" /><Relationship Type="http://schemas.openxmlformats.org/officeDocument/2006/relationships/notesSlide" Target="/ppt/notesSlides/notesSlide9.xml" Id="Ra24e3bb0fb914a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5113a60f742c6" /><Relationship Type="http://schemas.openxmlformats.org/officeDocument/2006/relationships/notesSlide" Target="/ppt/notesSlides/notesSlide10.xml" Id="R6cc62fffd19a45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6ffb9fef24952" /><Relationship Type="http://schemas.openxmlformats.org/officeDocument/2006/relationships/notesSlide" Target="/ppt/notesSlides/notesSlide11.xml" Id="R3bfe9adbad4a42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23e0e10804062" /><Relationship Type="http://schemas.openxmlformats.org/officeDocument/2006/relationships/notesSlide" Target="/ppt/notesSlides/notesSlide12.xml" Id="R636eeed5d57f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7B5E9-01B2-4A7D-9CDA-44440769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6680-07BA-4B03-AF14-AEDC7AC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720AF-21E6-4063-9F6E-000B839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E6157-3F01-4B1F-87A3-39FE90A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35F6A3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807"/>
                </a:solidFill>
              </a:defRPr>
            </a:pPr>
            <a:r>
              <a:rPr sz="1800" b="1">
                <a:solidFill>
                  <a:srgbClr val="050807"/>
                </a:solidFill>
              </a:rPr>
              <a:t>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8660A-F7C6-4F75-B6E6-E0341DF2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FF9"/>
                </a:solidFill>
              </a:defRPr>
            </a:pPr>
            <a:r>
              <a:rPr sz="1800" b="1">
                <a:solidFill>
                  <a:srgbClr val="F4FFF9"/>
                </a:solidFill>
              </a:rPr>
              <a:t>NimblyBase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13663-334A-4B1C-BC39-D51D24F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81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GOAI Agent Infra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0E977-6659-4A75-9A9C-7C9BA933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FF9"/>
                </a:solidFill>
              </a:defRPr>
            </a:pPr>
            <a:r>
              <a:rPr sz="4200" b="1">
                <a:solidFill>
                  <a:srgbClr val="F4FFF9"/>
                </a:solidFill>
              </a:rPr>
              <a:t>Agent-native backend and deployment 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551A6-E870-4884-B856-9364DA9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DA39A"/>
                </a:solidFill>
              </a:defRPr>
            </a:pPr>
            <a:r>
              <a:rPr sz="1800" b="0">
                <a:solidFill>
                  <a:srgbClr val="8DA39A"/>
                </a:solidFill>
              </a:rPr>
              <a:t>NimblyBase lets AI coding agents provision database, auth, storage, edge functions, deployment, domains, logs, and cost controls through MCP and CLI.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FC22C-0245-4875-B28C-E04210F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266700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0D1713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C6108-73F5-4838-84D5-745E8268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182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F6A3"/>
                </a:solidFill>
              </a:defRPr>
            </a:pPr>
            <a:r>
              <a:rPr sz="2100" b="1">
                <a:solidFill>
                  <a:srgbClr val="35F6A3"/>
                </a:solidFill>
              </a:rPr>
              <a:t>MCP</a:t>
            </a:r>
          </a:p>
          <a:p xmlns:a="http://schemas.openxmlformats.org/drawingml/2006/main">
            <a:pPr algn="ctr">
              <a:defRPr sz="2100" b="1">
                <a:solidFill>
                  <a:srgbClr val="35F6A3"/>
                </a:solidFill>
              </a:defRPr>
            </a:pPr>
            <a:r>
              <a:rPr sz="2100" b="1">
                <a:solidFill>
                  <a:srgbClr val="35F6A3"/>
                </a:solidFill>
              </a:rPr>
              <a:t>CLI</a:t>
            </a:r>
          </a:p>
          <a:p xmlns:a="http://schemas.openxmlformats.org/drawingml/2006/main">
            <a:pPr algn="ctr">
              <a:defRPr sz="2100" b="1">
                <a:solidFill>
                  <a:srgbClr val="35F6A3"/>
                </a:solidFill>
              </a:defRPr>
            </a:pPr>
            <a:r>
              <a:rPr sz="2100" b="1">
                <a:solidFill>
                  <a:srgbClr val="35F6A3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E2846-15FE-4208-9E88-F583E81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Prompt to 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9BAEB-8155-43E1-9690-DC561B2E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39A"/>
                </a:solidFill>
              </a:defRPr>
            </a:pPr>
            <a:r>
              <a:rPr sz="1200" b="0">
                <a:solidFill>
                  <a:srgbClr val="8DA39A"/>
                </a:solidFill>
              </a:rPr>
              <a:t>Preliminary submission concept deck | 2026</a:t>
            </a:r>
          </a:p>
        </p:txBody>
      </p:sp>
    </p:spTree>
    <p:extLst>
      <p:ext uri="{BB962C8B-B14F-4D97-AF65-F5344CB8AC3E}">
        <p14:creationId xmlns:p14="http://schemas.microsoft.com/office/powerpoint/2010/main" val="382730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6E5B1-F0B0-4BB2-80C8-F220E9AC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3309C-3513-489B-BB3A-1BF0811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F9899-FF0E-40C6-922E-6E168036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4E500-91EC-44FF-AC87-54D47715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FIT WITH GOAI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1A30D-4764-434E-8463-3266DBF6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The challenge asks for runnable, verifiable agent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4B446-4329-4BB1-9368-1301769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NimblyBase maps directly to the Agent Infra track requirements around Skills, MCP, observability, audit, and reusable tool capabilities.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27A32-86E6-4B43-81A2-AA488F46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287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7078F-88F1-4C21-975E-DD3335CE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GOAI asks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4509E-5680-4672-8742-C456C9EA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FF9"/>
                </a:solidFill>
              </a:defRPr>
            </a:pPr>
            <a:r>
              <a:rPr sz="1500" b="0">
                <a:solidFill>
                  <a:srgbClr val="F4FFF9"/>
                </a:solidFill>
              </a:rPr>
              <a:t>multi-agent collaboration, task decomposition, tool calling, result verification, evidence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DB649-EDCB-4AA1-A875-2D918AD6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287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6F796-9E9B-4147-B762-E4A39A7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NimblyBase provides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ADDFC-6681-4899-AFEF-3B19649B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862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FF9"/>
                </a:solidFill>
              </a:defRPr>
            </a:pPr>
            <a:r>
              <a:rPr sz="1500" b="0">
                <a:solidFill>
                  <a:srgbClr val="F4FFF9"/>
                </a:solidFill>
              </a:rPr>
              <a:t>a control plane that AI agents can operate through MCP, CLI, dashboard, and reusable skills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7AFAB-F65D-438E-978C-E88A1C5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10287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EA081-416C-49A6-B218-F0B09CB4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Submission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B349B-A60F-4072-A1D7-6CDE754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911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FF9"/>
                </a:solidFill>
              </a:defRPr>
            </a:pPr>
            <a:r>
              <a:rPr sz="1500" b="0">
                <a:solidFill>
                  <a:srgbClr val="F4FFF9"/>
                </a:solidFill>
              </a:rPr>
              <a:t>open-source agent infrastructure for backend, deployment, domains, logs, and cost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E18B6-C597-4C94-8FF1-9985B80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57719-1181-4B45-8E73-EAC2BF5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7160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402CC-621C-4EEB-B268-65CAA832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E06B3-B708-4998-96F7-2E62A6F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DDD6-8D73-4790-9168-E071858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BBC25-6310-479F-8169-DECA32EC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8D3E2-5E5B-4C9C-B1FC-1369E79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AI can write the app, but production infrastructure still breaks the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AAC2B-088B-4D06-9B12-2CAD2409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Builders lose momentum when they must manually assemble backend services, deployment, domains, secrets, and provider billing.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A77B6-D3A2-4A9D-9007-60D578C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286250" cy="30861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C1412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A1865-662C-4C1A-BB42-96B5FD35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FF9"/>
                </a:solidFill>
              </a:defRPr>
            </a:pPr>
            <a:r>
              <a:rPr sz="1950" b="1">
                <a:solidFill>
                  <a:srgbClr val="F4FFF9"/>
                </a:solidFill>
              </a:rPr>
              <a:t>Manual setup surface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8AB95-A92F-4F21-B1D4-DFBBE913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333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Database and schema setup</a:t>
            </a:r>
          </a:p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Auth and user flows</a:t>
            </a:r>
          </a:p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Storage and signed uploads</a:t>
            </a:r>
          </a:p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Edge functions and webhooks</a:t>
            </a:r>
          </a:p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Deployment and env vars</a:t>
            </a:r>
          </a:p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Domains, SSL, DNS</a:t>
            </a:r>
          </a:p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- Logs, usage, and cost 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625FA-5E93-4A0C-9080-0EB8391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5F6A3"/>
                </a:solidFill>
              </a:defRPr>
            </a:pPr>
            <a:r>
              <a:rPr sz="2850" b="1">
                <a:solidFill>
                  <a:srgbClr val="35F6A3"/>
                </a:solidFill>
              </a:rPr>
              <a:t>Result: demo code stalls before it becomes a deployed, observable product.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783E-D6BF-4842-A6D1-5B5BC4F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DA39A"/>
                </a:solidFill>
              </a:defRPr>
            </a:pPr>
            <a:r>
              <a:rPr sz="1650" b="0">
                <a:solidFill>
                  <a:srgbClr val="8DA39A"/>
                </a:solidFill>
              </a:rPr>
              <a:t>This gap is especially painful for hackathon teams, students, non-technical founders, and AI-agent-first builders.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5ACCC-B320-4372-8BF2-30146A42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5933D-815D-475E-8D19-6CCBE19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5501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FAA25-9D5D-4AC7-842B-DCE89D1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4512-F235-472D-992E-7543B68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AB693-8301-4B69-BF3D-49998741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6E247-BFDF-4F78-A09F-DCA9B45D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C9975-EBB8-4C05-99A0-2D2079C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NimblyBase gives agents one control plane for app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0E312-4DCB-4FA3-BE25-F2677185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The user stays in Claude, Codex, Cursor, or Windsurf. The agent calls NimblyBase to provision and verify the backend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20B8-35EC-42D4-B04F-6BB2757F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1713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82F6"/>
                </a:solidFill>
              </a:defRPr>
            </a:pPr>
            <a:r>
              <a:rPr sz="1650" b="1">
                <a:solidFill>
                  <a:srgbClr val="3B82F6"/>
                </a:solidFill>
              </a:rPr>
              <a:t>AI coding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1498A-C4CF-4289-941F-0724A876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1714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1713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F6A3"/>
                </a:solidFill>
              </a:defRPr>
            </a:pPr>
            <a:r>
              <a:rPr sz="1650" b="1">
                <a:solidFill>
                  <a:srgbClr val="35F6A3"/>
                </a:solidFill>
              </a:rPr>
              <a:t>MCP +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28FBA-9427-4209-8D68-C9A2777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2857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0D1713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F6A3"/>
                </a:solidFill>
              </a:defRPr>
            </a:pPr>
            <a:r>
              <a:rPr sz="1650" b="1">
                <a:solidFill>
                  <a:srgbClr val="35F6A3"/>
                </a:solidFill>
              </a:rPr>
              <a:t>NimblyBase control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24DAB-AC30-4B2E-B843-3C6B6A0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428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1713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AD7FF"/>
                </a:solidFill>
              </a:defRPr>
            </a:pPr>
            <a:r>
              <a:rPr sz="1650" b="1">
                <a:solidFill>
                  <a:srgbClr val="5AD7FF"/>
                </a:solidFill>
              </a:rPr>
              <a:t>Cloud providers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28950" y="33909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33909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34500" y="3390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59136-2ED6-4BEA-B8EA-96B9C163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529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4FFF9"/>
                </a:solidFill>
              </a:defRPr>
            </a:pPr>
            <a:r>
              <a:rPr sz="1800" b="0">
                <a:solidFill>
                  <a:srgbClr val="F4FFF9"/>
                </a:solidFill>
              </a:rPr>
              <a:t>Database | Auth | Storage | Functions | Deployments | Domains | Logs |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3E7AE-D4EA-49D8-91E0-11AC3C2E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197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DA39A"/>
                </a:solidFill>
              </a:defRPr>
            </a:pPr>
            <a:r>
              <a:rPr sz="1650" b="0">
                <a:solidFill>
                  <a:srgbClr val="8DA39A"/>
                </a:solidFill>
              </a:rPr>
              <a:t>The platform is modular: users can use only the services they need and bring their own deployment provider when preferred.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C4369-EC46-45EB-AAD8-A2B587B0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11144-C723-42D8-92B0-B9654721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1581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9DA9F-72E6-4485-BFDE-9F61CC83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73446-5E2C-4595-940C-05841AB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2C675-4A32-4286-A610-B0994934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AF076-788B-4D1C-8BC2-799C5F71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MULTI-AGENT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DAF43-5586-449E-B76F-F5088392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Three agents turn a rough app idea into verified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4275B-A565-43B3-804C-CBD22297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The demo is designed around the Agent Infra requirement for role separation, task decomposition, tool calling, verification, and evidence capture.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AC36D-B37F-4201-A5A8-46FB0A2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1. Product Agent</a:t>
            </a:r>
          </a:p>
          <a:p xmlns:a="http://schemas.openxmlformats.org/drawingml/2006/main">
            <a:pPr algn="ctr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Converts the app idea into schema, services, and deployment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579AC-2041-432A-BE8F-5A52D0B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2. Infrastructure Agent</a:t>
            </a:r>
          </a:p>
          <a:p xmlns:a="http://schemas.openxmlformats.org/drawingml/2006/main">
            <a:pPr algn="ctr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Calls NimblyBase MCP tools to provision and deploy.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E5557-E895-48AE-892C-7252D816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F6B4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3. Verification Agent</a:t>
            </a:r>
          </a:p>
          <a:p xmlns:a="http://schemas.openxmlformats.org/drawingml/2006/main">
            <a:pPr algn="ctr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Checks logs, cost, security, DNS, SSL, and produces evidence.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38550" y="345757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345757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8EAF-AB2D-4793-820A-7A77460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672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B4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A5D17-824D-4173-BB0D-4F8D8153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5300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B4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D377E-B2B9-46AE-BF09-FF32AB10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672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B4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501D7-FE1C-47E7-B696-89031D0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578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5F6A3"/>
                </a:solidFill>
              </a:defRPr>
            </a:pPr>
            <a:r>
              <a:rPr sz="1650" b="0">
                <a:solidFill>
                  <a:srgbClr val="35F6A3"/>
                </a:solidFill>
              </a:rPr>
              <a:t>Evidence feeds back into better plans, safer retries, and reusable Skills.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FBDD7-96C5-48C6-87DF-9F5121E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F0C0A-4EA8-4717-978C-85A25827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4802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846B6-50B8-4357-AD9F-F4884B44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D1299-6CC0-4CDC-9BFA-564FA1BA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E862D-560B-4A79-BD35-A750BC4D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9F0B4-589B-4EE3-A1E2-88B85E47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2C090-1E13-436D-AE38-D4545D9C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The platform routes agent actions into real cloud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21A6D-DAF4-4D76-AB9D-322EF482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A central control plane owns identity, projects, policy, usage, and provider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2622D-6103-4F22-88AC-D24D680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257175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DFCCB"/>
                </a:solidFill>
              </a:defRPr>
            </a:pPr>
            <a:r>
              <a:rPr sz="1950" b="1">
                <a:solidFill>
                  <a:srgbClr val="9DFCCB"/>
                </a:solidFill>
              </a:rPr>
              <a:t>NimblyBase</a:t>
            </a:r>
          </a:p>
          <a:p xmlns:a="http://schemas.openxmlformats.org/drawingml/2006/main">
            <a:pPr algn="ctr">
              <a:defRPr sz="1950" b="1">
                <a:solidFill>
                  <a:srgbClr val="9DFCCB"/>
                </a:solidFill>
              </a:defRPr>
            </a:pPr>
            <a:r>
              <a:rPr sz="1950" b="1">
                <a:solidFill>
                  <a:srgbClr val="9DFCCB"/>
                </a:solidFill>
              </a:rPr>
              <a:t>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1DAB2-D2BD-4200-A196-8399CE8D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Dashboard</a:t>
            </a:r>
          </a:p>
        </p:txBody>
      </p: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62250" y="2428875"/>
            <a:ext cx="2019300" cy="790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DB586-BB8D-49CE-B092-7440BBD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Remote MCP</a:t>
            </a:r>
          </a:p>
        </p:txBody>
      </p: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762250" y="3219450"/>
            <a:ext cx="201930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27C4A-0815-4040-8643-28392CB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CLI</a:t>
            </a:r>
          </a:p>
        </p:txBody>
      </p: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762250" y="3219450"/>
            <a:ext cx="2019300" cy="1304925"/>
          </a:xfrm>
          <a:prstGeom xmlns:a="http://schemas.openxmlformats.org/drawingml/2006/main" prst="bentConnector3">
            <a:avLst>
              <a:gd name="adj1" fmla="val 11321"/>
            </a:avLst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C6F62-0F7B-4852-BCF9-E2E150A6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5F6A3"/>
                </a:solidFill>
              </a:defRPr>
            </a:pPr>
            <a:r>
              <a:rPr sz="1500" b="1">
                <a:solidFill>
                  <a:srgbClr val="35F6A3"/>
                </a:solidFill>
              </a:rPr>
              <a:t>Cloudflare</a:t>
            </a:r>
          </a:p>
          <a:p xmlns:a="http://schemas.openxmlformats.org/drawingml/2006/main">
            <a:pPr algn="ctr">
              <a:defRPr sz="1500" b="1">
                <a:solidFill>
                  <a:srgbClr val="35F6A3"/>
                </a:solidFill>
              </a:defRPr>
            </a:pPr>
            <a:r>
              <a:rPr sz="1500" b="1">
                <a:solidFill>
                  <a:srgbClr val="35F6A3"/>
                </a:solidFill>
              </a:rPr>
              <a:t>D1/R2/WFP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353300" y="2028825"/>
            <a:ext cx="133350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EF25C-FDAE-47A5-9C13-A9EDDFCB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D7FF"/>
                </a:solidFill>
              </a:defRPr>
            </a:pPr>
            <a:r>
              <a:rPr sz="1500" b="1">
                <a:solidFill>
                  <a:srgbClr val="5AD7FF"/>
                </a:solidFill>
              </a:rPr>
              <a:t>Neon</a:t>
            </a:r>
          </a:p>
          <a:p xmlns:a="http://schemas.openxmlformats.org/drawingml/2006/main">
            <a:pPr algn="ctr">
              <a:defRPr sz="1500" b="1">
                <a:solidFill>
                  <a:srgbClr val="5AD7FF"/>
                </a:solidFill>
              </a:defRPr>
            </a:pPr>
            <a:r>
              <a:rPr sz="1500" b="1">
                <a:solidFill>
                  <a:srgbClr val="5AD7FF"/>
                </a:solidFill>
              </a:rPr>
              <a:t>Postgres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353300" y="3190875"/>
            <a:ext cx="13335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DB3F6-7170-4891-AA82-F4D3572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F6B4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B44B"/>
                </a:solidFill>
              </a:defRPr>
            </a:pPr>
            <a:r>
              <a:rPr sz="1500" b="1">
                <a:solidFill>
                  <a:srgbClr val="F6B44B"/>
                </a:solidFill>
              </a:rPr>
              <a:t>Entri</a:t>
            </a:r>
          </a:p>
          <a:p xmlns:a="http://schemas.openxmlformats.org/drawingml/2006/main">
            <a:pPr algn="ctr">
              <a:defRPr sz="1500" b="1">
                <a:solidFill>
                  <a:srgbClr val="F6B44B"/>
                </a:solidFill>
              </a:defRPr>
            </a:pPr>
            <a:r>
              <a:rPr sz="1500" b="1">
                <a:solidFill>
                  <a:srgbClr val="F6B44B"/>
                </a:solidFill>
              </a:rPr>
              <a:t>Domains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53300" y="3219450"/>
            <a:ext cx="13335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6A367-EA5D-4054-AD4F-ECE8FDA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4350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Fly/Railway</a:t>
            </a:r>
          </a:p>
          <a:p xmlns:a="http://schemas.openxmlformats.org/drawingml/2006/main">
            <a:pPr algn="ctr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Compute</a:t>
            </a:r>
          </a:p>
        </p:txBody>
      </p: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619500" y="3219450"/>
            <a:ext cx="5067300" cy="22955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BD59C-F29C-4390-840B-80F3AB8D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76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5F6A3"/>
                </a:solidFill>
              </a:defRPr>
            </a:pPr>
            <a:r>
              <a:rPr sz="1800" b="0">
                <a:solidFill>
                  <a:srgbClr val="35F6A3"/>
                </a:solidFill>
              </a:rPr>
              <a:t>Every operation emits audit, usage, and cost events.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53102-5F22-4CEB-B2D1-EC246E6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EAE86-FC63-4256-B834-C7323B84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8704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32BA0-EA85-43E6-A72A-A4E5CCB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D6A66-6A79-409B-A3C2-0FC45FB5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AE805-72E7-4A58-81B2-950902A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C98A3-A405-4C82-B6E6-88A3B233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MCP + SKILLS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12690-17B4-4D3B-AAF7-576DD94D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NimblyBase exposes infrastructure as reusable agent capabilities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B3CC3-AA69-43B1-B308-89D59D78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Skills define the task capability; MCP provides the tool connection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D69CA-B4EB-4E48-8DA0-FF7E2C6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1623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AA2DA-BDFD-4C3D-AB74-5862090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F6A3"/>
                </a:solidFill>
              </a:defRPr>
            </a:pPr>
            <a:r>
              <a:rPr sz="1950" b="1">
                <a:solidFill>
                  <a:srgbClr val="35F6A3"/>
                </a:solidFill>
              </a:rPr>
              <a:t>Project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34546-E474-4267-98D3-1C5D0A21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create project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link repo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get metadata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rotate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303C1-3B1B-4CC7-98F1-05B93439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67000"/>
            <a:ext cx="31623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4F1E1-2756-4872-B5B0-2504338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F6A3"/>
                </a:solidFill>
              </a:defRPr>
            </a:pPr>
            <a:r>
              <a:rPr sz="1950" b="1">
                <a:solidFill>
                  <a:srgbClr val="35F6A3"/>
                </a:solidFill>
              </a:rPr>
              <a:t>Build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9CB10-E5C5-4136-ADB4-72E56C17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6235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create schema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deploy function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set secrets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deploy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DB7C6-A8B2-4794-BB79-7BB41290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31623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254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D9CC0-B396-460A-970D-3D6A060E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F6A3"/>
                </a:solidFill>
              </a:defRPr>
            </a:pPr>
            <a:r>
              <a:rPr sz="1950" b="1">
                <a:solidFill>
                  <a:srgbClr val="35F6A3"/>
                </a:solidFill>
              </a:rPr>
              <a:t>Operate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66788-13D3-46F5-8C99-DF5B31B8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read logs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check usage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connect domain</a:t>
            </a:r>
          </a:p>
          <a:p xmlns:a="http://schemas.openxmlformats.org/drawingml/2006/main">
            <a:pPr algn="l">
              <a:defRPr sz="1575" b="0">
                <a:solidFill>
                  <a:srgbClr val="F4FFF9"/>
                </a:solidFill>
              </a:defRPr>
            </a:pPr>
            <a:r>
              <a:rPr sz="1575" b="0">
                <a:solidFill>
                  <a:srgbClr val="F4FFF9"/>
                </a:solidFill>
              </a:rPr>
              <a:t>- diagnose 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6FD3B-930A-4898-B5DE-517B7DA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8DA39A"/>
                </a:solidFill>
              </a:defRPr>
            </a:pPr>
            <a:r>
              <a:rPr sz="1800" b="0">
                <a:solidFill>
                  <a:srgbClr val="8DA39A"/>
                </a:solidFill>
              </a:rPr>
              <a:t>The same contract works from Claude, Codex, Cursor, Windsurf, CI, or the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20481-9D35-4688-A2C1-3764797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75EE3-FE71-4A92-ACE4-1467B00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8515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FB9518-26F8-4816-8442-975F54B0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105D7-30B0-440B-A500-80683BD8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9225E-BBE2-4A5F-AEBA-EEAC0834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F98FE-968E-4C9A-B238-AC389D4C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SERVICE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CFE72-7B6F-45E8-932B-A22E09DD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The first release focuses on services that unblock AI-built apps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A4041-051C-4AD5-BF3F-99D0CF0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Each service can be used independently, which keeps adoption lightweight and avoids forcing platform lock-in.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3CA0E-3388-40D4-A86D-8F60FE4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47245-CCE9-4706-B25B-9B0B82E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3FD4E-17F4-4CDD-AE15-57179693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384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D1 for light apps; Neon for Postgres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C6F42-06E4-48AC-8164-7EB93C5B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97640-3E3B-4EE2-93AE-71C52947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80CB7-4D29-4DCC-824A-3703A46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384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signup, login, reset, JWT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AB766-5E28-48A9-86EE-A59DBA01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D69F-6EDE-4866-92FE-D7996716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34F91-9FAB-4609-9906-0DECCBB2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76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R2 uploads, signed URLs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B3055-0DF6-4ECA-88E7-4336551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22E67-04FE-4D2B-A0A8-6BD8952D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Functions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F51E0-8C67-43A3-BDE1-3B2D29FF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Workers for APIs, cron, webhooks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92B43-D37F-4277-9F92-82A373EC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EE646-703D-48E3-A776-ABE4809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C72A9-ECC1-4F1E-8406-C99D580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14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edge deploy or external 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ABE31-354D-45D7-B78E-798971C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D244F-3A1C-48BE-A98D-E06C9316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86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Domains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2C2FE-4441-41B9-8DF6-CED4A7A2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14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buy/connect via Entri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1775C-F44C-4C1B-A538-D8315AA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7D279-5193-47E1-93E9-0ABD517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AI APIs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A9BA3-2EC6-47AA-93B3-5D8FAD1D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53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managed gateway with spend caps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AA2AF-BE1F-45E3-87E8-BD59635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91100"/>
            <a:ext cx="476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ED85A-12A7-4846-8471-548A9E16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Cost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090027-226D-49AD-B028-D9255BD9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53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A39A"/>
                </a:solidFill>
              </a:defRPr>
            </a:pPr>
            <a:r>
              <a:rPr sz="1350" b="0">
                <a:solidFill>
                  <a:srgbClr val="8DA39A"/>
                </a:solidFill>
              </a:rPr>
              <a:t>usage, credits, provider margin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190BDB-67B9-40AE-9A4C-12BC4B74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7DC4CB-E8BB-4D21-A87B-47526A8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0048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37C18-9E8F-44AB-A697-BB0ED6D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2000E-31EE-40C9-8E2A-2E3D0E28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F08B9-0F29-463E-8004-AED511A6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F508D-4248-41FC-B202-8BE275E4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15413-E7FE-4149-A951-98B5629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Verification and cost evidence are part of the product, not an afterthought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BC3AC-BAA5-439B-912F-52230CAF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NimblyBase captures technical evidence for users and commercial evidence for platform operators.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EC684-24D1-47C9-9FFF-21FDF3E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76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Project evidence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deployment logs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function traces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DNS and SSL status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API errors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security-sensitive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29209-80AF-40CC-84B8-EEDCC21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476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F6B4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Cost evidence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provider usage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customer credits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actual infra cost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margin by project</a:t>
            </a:r>
          </a:p>
          <a:p xmlns:a="http://schemas.openxmlformats.org/drawingml/2006/main">
            <a:pPr algn="l">
              <a:defRPr sz="1650" b="1">
                <a:solidFill>
                  <a:srgbClr val="F4FFF9"/>
                </a:solidFill>
              </a:defRPr>
            </a:pPr>
            <a:r>
              <a:rPr sz="1650" b="1">
                <a:solidFill>
                  <a:srgbClr val="F4FFF9"/>
                </a:solidFill>
              </a:rPr>
              <a:t>- anomaly alerts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329AF-991A-4236-BC17-505CEC45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673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DA39A"/>
                </a:solidFill>
              </a:defRPr>
            </a:pPr>
            <a:r>
              <a:rPr sz="1650" b="0">
                <a:solidFill>
                  <a:srgbClr val="8DA39A"/>
                </a:solidFill>
              </a:rPr>
              <a:t>This satisfies the demo need for verifiable execution and gives NimblyBase the control tower needed to run a multi-provider 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3B833-61DA-4ECA-92FE-8E3813C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E3DD6-A4C1-4862-A4E3-C1E9B0CB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2745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2B63E-0192-4C57-995E-35D4FE7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12449-3A54-41B9-A7EC-F397C32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8F5E1-129E-4A59-B4D4-6D2BC75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67C4F-C997-42CE-BC91-D6425BA0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SEMI-FINAL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6B0E1-F195-4EA5-B723-D4C5E0FF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A focused MVP can prove the full closed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7FE1-08AF-46DA-8547-0BFFE13E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The semi-final demo should be narrow, runnable, and auditable rather than feature-complete.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42F19-B67D-494E-B3FC-FC0484C8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User gives app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19505-BBD0-4DF8-B75F-40FC8F9A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Product Agent creates infra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F51A3-7EA5-4235-BD3E-1F2144CB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Infra Agent provisions D1, storage,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7099D-9766-4B8F-93F3-94CF2BB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Deploys sample frontend/edge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4AE67-5D8F-42A8-96F2-C26D65F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35F6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Verification Agent produces evidence report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86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33950" y="3486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00900" y="3486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67850" y="3486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39A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09208-C520-4875-B1B4-4AF2401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5F6A3"/>
                </a:solidFill>
              </a:defRPr>
            </a:pPr>
            <a:r>
              <a:rPr sz="1800" b="0">
                <a:solidFill>
                  <a:srgbClr val="35F6A3"/>
                </a:solidFill>
              </a:rPr>
              <a:t>Demo output: live URL, project dashboard, MCP logs, deployment logs, cost ledger, and open-source repository.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C006A-A3F6-4E29-9BDF-BC93751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8E2A5-154F-4C5E-B85E-C2DB81C1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4781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0E031-79B6-4B8C-9DD3-EE20AD83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D4BB-E846-4571-AF08-DBE0B374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777D9-7390-446F-BE2A-9F631CA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C754-3034-4AA5-9DB4-F3DE526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OPEN-SOURCE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C5547-2C3E-4CF3-A1CC-BC908F11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The open-source core becomes a reusable agent infra standard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66BEF-8BEB-42A8-9A8C-9A63C79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NimblyBase can open the agent-facing layer while keeping managed provider operations sustainable.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B77C-7EB2-4E65-8DBD-926E6CA2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6A3"/>
                </a:solidFill>
              </a:defRPr>
            </a:pPr>
            <a:r>
              <a:rPr sz="2100" b="1">
                <a:solidFill>
                  <a:srgbClr val="35F6A3"/>
                </a:solidFill>
              </a:rPr>
              <a:t>Open-source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47623-B6FE-4577-80A4-0609DAC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FF9"/>
                </a:solidFill>
              </a:defRPr>
            </a:pPr>
            <a:r>
              <a:rPr sz="1650" b="0">
                <a:solidFill>
                  <a:srgbClr val="F4FFF9"/>
                </a:solidFill>
              </a:rPr>
              <a:t>MCP server, CLI, SDK, schemas, local adapters, docs, example Skills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81899-AB88-4686-8C1C-8078966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56CB1-49CC-4AA9-AD7C-CB9DFAAF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6A3"/>
                </a:solidFill>
              </a:defRPr>
            </a:pPr>
            <a:r>
              <a:rPr sz="2100" b="1">
                <a:solidFill>
                  <a:srgbClr val="35F6A3"/>
                </a:solidFill>
              </a:rPr>
              <a:t>Managed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20674-C324-4955-96C0-97A96828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FF9"/>
                </a:solidFill>
              </a:defRPr>
            </a:pPr>
            <a:r>
              <a:rPr sz="1650" b="0">
                <a:solidFill>
                  <a:srgbClr val="F4FFF9"/>
                </a:solidFill>
              </a:rPr>
              <a:t>hosted control plane, provider integrations, billing, domain 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7F52C-3A90-46B5-BF0C-E33346B9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26D2B-F860-4DEE-BA98-75C4756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6A3"/>
                </a:solidFill>
              </a:defRPr>
            </a:pPr>
            <a:r>
              <a:rPr sz="2100" b="1">
                <a:solidFill>
                  <a:srgbClr val="35F6A3"/>
                </a:solidFill>
              </a:rPr>
              <a:t>Community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B8AA-9C16-4F3C-A002-9227E83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FF9"/>
                </a:solidFill>
              </a:defRPr>
            </a:pPr>
            <a:r>
              <a:rPr sz="1650" b="0">
                <a:solidFill>
                  <a:srgbClr val="F4FFF9"/>
                </a:solidFill>
              </a:rPr>
              <a:t>repeatable backend/deployment patterns for AI-built apps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C90BD-853A-49C5-BA54-FD28B92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47DA3-2EBB-4C3A-9ACD-1C3FD855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21FA8-4224-4051-9B84-146FA85D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5339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8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988F3-1F59-4C86-8992-FFE5ED4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5080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C537D-A7FA-494A-A8DE-DAF63D0A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1E"/>
          </a:solidFill>
          <a:ln xmlns:a="http://schemas.openxmlformats.org/drawingml/2006/main" w="0">
            <a:solidFill>
              <a:srgbClr val="1028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E647A-018D-45E1-8ACB-1E365A84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E18"/>
          </a:solidFill>
          <a:ln xmlns:a="http://schemas.openxmlformats.org/drawingml/2006/main" w="0">
            <a:solidFill>
              <a:srgbClr val="061E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6FD3A-685F-4B95-9D2A-CAA98BB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E8DFC-B997-4B0A-AD95-793BBDA4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FF9"/>
                </a:solidFill>
              </a:defRPr>
            </a:pPr>
            <a:r>
              <a:rPr sz="2850" b="1">
                <a:solidFill>
                  <a:srgbClr val="F4FFF9"/>
                </a:solidFill>
              </a:rPr>
              <a:t>Roadmap to a runnable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23368-0E2F-4066-A07D-25BBD324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A39A"/>
                </a:solidFill>
              </a:defRPr>
            </a:pPr>
            <a:r>
              <a:rPr sz="1500" b="0">
                <a:solidFill>
                  <a:srgbClr val="8DA39A"/>
                </a:solidFill>
              </a:rPr>
              <a:t>The first milestone is a credible closed-loop demo; later milestones expand service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CA342-D4C0-4927-B8DC-ED043A07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Preliminary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7426A-0CF0-4D67-8991-A4C2EBD4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723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76EF4-6BCD-4B24-AD7A-F83A04C4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FF9"/>
                </a:solidFill>
              </a:defRPr>
            </a:pPr>
            <a:r>
              <a:rPr sz="1425" b="0">
                <a:solidFill>
                  <a:srgbClr val="F4FFF9"/>
                </a:solidFill>
              </a:rPr>
              <a:t>proposal deck, SRS, architecture, open-source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2BC2B-039E-410B-80A2-FB6BEC0B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Semi-final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EC4D9-9508-4504-99B8-897397F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723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71975-DEEB-46EB-872D-D31E2A3D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FF9"/>
                </a:solidFill>
              </a:defRPr>
            </a:pPr>
            <a:r>
              <a:rPr sz="1425" b="0">
                <a:solidFill>
                  <a:srgbClr val="F4FFF9"/>
                </a:solidFill>
              </a:rPr>
              <a:t>MCP + CLI MVP, D1/R2, edge function, evidence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3F6E1-0854-4536-8A3C-A8FDAB2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1D6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F6A3"/>
                </a:solidFill>
              </a:defRPr>
            </a:pPr>
            <a:r>
              <a:rPr sz="1050" b="1">
                <a:solidFill>
                  <a:srgbClr val="35F6A3"/>
                </a:solidFill>
              </a:rPr>
              <a:t>Final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B627B-3FAE-4EAD-9BFA-D5C555CC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723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1A16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A6CEF-7CFF-4890-9E00-B573C09B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FF9"/>
                </a:solidFill>
              </a:defRPr>
            </a:pPr>
            <a:r>
              <a:rPr sz="1425" b="0">
                <a:solidFill>
                  <a:srgbClr val="F4FFF9"/>
                </a:solidFill>
              </a:rPr>
              <a:t>live demo, dashboard, domain flow, cost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6A560-860F-491F-BFBC-4EED57B4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F6A3"/>
                </a:solidFill>
              </a:defRPr>
            </a:pPr>
            <a:r>
              <a:rPr sz="1800" b="1">
                <a:solidFill>
                  <a:srgbClr val="35F6A3"/>
                </a:solidFill>
              </a:rPr>
              <a:t>Ask: select NimblyBase for GOAI Agent Infra so the team can turn this concept into a runnable, verifiable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B9B48-EE62-4255-938F-B3EA04BB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39A"/>
                </a:solidFill>
              </a:defRPr>
            </a:pPr>
            <a:r>
              <a:rPr sz="900" b="0">
                <a:solidFill>
                  <a:srgbClr val="8DA39A"/>
                </a:solidFill>
              </a:rPr>
              <a:t>NimblyBase | GOAI Agent Infra preliminary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F8B67-667E-415B-AA06-DBE4257D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DA39A"/>
                </a:solidFill>
              </a:defRPr>
            </a:pPr>
            <a:r>
              <a:rPr sz="1050" b="0">
                <a:solidFill>
                  <a:srgbClr val="8DA39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6452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2026-08-15T00:47:07.7600000Z</dcterms:created>
  <dcterms:modified xsi:type="dcterms:W3CDTF">2026-08-15T00:47:07.7600000Z</dcterms:modified>
</coreProperties>
</file>